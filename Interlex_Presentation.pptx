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C9A84C">
              <a:alpha val="3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040880" y="118872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7315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INTERLEX</a:t>
            </a:r>
            <a:endParaRPr lang="en-US" sz="6000" dirty="0"/>
          </a:p>
        </p:txBody>
      </p:sp>
      <p:sp>
        <p:nvSpPr>
          <p:cNvPr id="7" name="Shape 4"/>
          <p:cNvSpPr/>
          <p:nvPr/>
        </p:nvSpPr>
        <p:spPr>
          <a:xfrm>
            <a:off x="411480" y="1828800"/>
            <a:ext cx="384048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19659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Registration &amp; Legal Services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11480" y="25603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Kazakhstan · Georgia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11480" y="31089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бизнеса для иностранных компаний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свободных экономических зонах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interlex.kz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 КОМПАНИИ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73152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716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371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Казахстан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30352" y="20574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Astana Hub — главная штаб-квартира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 выход на рынок ЕАЭС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Полное юридическое сопровождение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88720"/>
            <a:ext cx="4023360" cy="73152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3716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04688" y="1371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Грузия (партнёр)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19472" y="20574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Совместная работа с грузинским партнёром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СЭЗ Поти &amp; Кутаиси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Zone — 0% на IT-экспорт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5" name="Text 11"/>
          <p:cNvSpPr/>
          <p:nvPr/>
        </p:nvSpPr>
        <p:spPr>
          <a:xfrm>
            <a:off x="365760" y="44988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65760" y="48188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Юрисдикции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468880" y="44988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5+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2468880" y="48188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 СЭЗ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572000" y="44988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4572000" y="48188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Налог IT (GE)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675120" y="44988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360°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6675120" y="48188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Сопровождение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КАЗАХСТАН — РЕГИСТРАЦИЯ БИЗНЕСА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1143000"/>
            <a:ext cx="2816352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143000"/>
            <a:ext cx="2816352" cy="64008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07592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125272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ТОО для нерезидентов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11480" y="1801368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ООО с иностранным участием любой доли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27832" y="1143000"/>
            <a:ext cx="2816352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27832" y="1143000"/>
            <a:ext cx="2816352" cy="64008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307592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22192" y="125272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БИН нерезидента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364992" y="1801368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Получение БИН юридического лица без казахстанского учредителя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181344" y="1143000"/>
            <a:ext cx="2816352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181344" y="1143000"/>
            <a:ext cx="2816352" cy="64008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4" y="130759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75704" y="125272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Филиал / Представительство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318504" y="1801368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Открытие структурного подразделения иностранной компании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274320" y="3017520"/>
            <a:ext cx="2816352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274320" y="3017520"/>
            <a:ext cx="2816352" cy="64008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182112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68680" y="31272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Корпоративный счёт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11480" y="3675888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Открытие счёта в Halyk, Kaspi, Forte или других банках РК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227832" y="3017520"/>
            <a:ext cx="2816352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227832" y="3017520"/>
            <a:ext cx="2816352" cy="64008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3182112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822192" y="31272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Лицензирование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3364992" y="3675888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Финансовые, медицинские, образовательные и иные лицензии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6181344" y="3017520"/>
            <a:ext cx="2816352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181344" y="3017520"/>
            <a:ext cx="2816352" cy="64008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504" y="3182112"/>
            <a:ext cx="384048" cy="38404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775704" y="31272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Миграция &amp; ВНЖ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6318504" y="3675888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Рабочие визы и вид на жительство для директоров и персонала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КАЗАХСТАН — СЭЗ / Часть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СЭЗ · льготы до 25 лет · 0% КПН, НДС, таможня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0" y="109728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097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СЭЗ + 55 ИЗ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32688"/>
            <a:ext cx="8686800" cy="274320"/>
          </a:xfrm>
          <a:prstGeom prst="rect">
            <a:avLst/>
          </a:prstGeom>
          <a:solidFill>
            <a:srgbClr val="C9A84C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932688"/>
            <a:ext cx="54864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 АСТАНА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225296"/>
            <a:ext cx="8686800" cy="457200"/>
          </a:xfrm>
          <a:prstGeom prst="rect">
            <a:avLst/>
          </a:prstGeom>
          <a:solidFill>
            <a:srgbClr val="162D55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" y="1225296"/>
            <a:ext cx="54864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2618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Астана Хаб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14813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бессрочно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0" y="12801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IT, стартапы, цифровые технологии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63640" y="1280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0% КПН/ИПН до 10 лет, упрощённые визы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700784"/>
            <a:ext cx="8686800" cy="457200"/>
          </a:xfrm>
          <a:prstGeom prst="rect">
            <a:avLst/>
          </a:prstGeom>
          <a:solidFill>
            <a:srgbClr val="162D55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600" y="1700784"/>
            <a:ext cx="54864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737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МФЦА (AIFC)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195681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50 лет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0" y="17556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Финансы, инвестфонды, страхование, исламские финансы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63640" y="17556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Английское право, независимый арбитраж AIFC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2176272"/>
            <a:ext cx="8686800" cy="457200"/>
          </a:xfrm>
          <a:prstGeom prst="rect">
            <a:avLst/>
          </a:prstGeom>
          <a:solidFill>
            <a:srgbClr val="162D55"/>
          </a:solidFill>
          <a:ln/>
        </p:spPr>
      </p:sp>
      <p:sp>
        <p:nvSpPr>
          <p:cNvPr id="23" name="Shape 21"/>
          <p:cNvSpPr/>
          <p:nvPr/>
        </p:nvSpPr>
        <p:spPr>
          <a:xfrm>
            <a:off x="228600" y="2176272"/>
            <a:ext cx="54864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2128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Астана — Новый Город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24323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2027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0" y="22311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Строительство, инжиниринг, стройматериалы, мебель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63640" y="223113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0% КПН, НДС, таможня; земля бесплатно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2651760"/>
            <a:ext cx="8686800" cy="457200"/>
          </a:xfrm>
          <a:prstGeom prst="rect">
            <a:avLst/>
          </a:prstGeom>
          <a:solidFill>
            <a:srgbClr val="162D55"/>
          </a:solidFill>
          <a:ln/>
        </p:spPr>
      </p:sp>
      <p:sp>
        <p:nvSpPr>
          <p:cNvPr id="29" name="Shape 27"/>
          <p:cNvSpPr/>
          <p:nvPr/>
        </p:nvSpPr>
        <p:spPr>
          <a:xfrm>
            <a:off x="228600" y="2651760"/>
            <a:ext cx="54864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26883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Астана — Технополис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29077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2042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00400" y="270662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Металлургия, фармацевтика, инновации, образование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63640" y="27066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0% КПН/НДС, упрощённый найм иностранцев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3182112"/>
            <a:ext cx="8686800" cy="27432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28600" y="3182112"/>
            <a:ext cx="54864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3182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🛤 АЛМАТЫ ОБЛ. / ХОРГОС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" y="3474720"/>
            <a:ext cx="8686800" cy="457200"/>
          </a:xfrm>
          <a:prstGeom prst="rect">
            <a:avLst/>
          </a:prstGeom>
          <a:solidFill>
            <a:srgbClr val="162D55"/>
          </a:solidFill>
          <a:ln/>
        </p:spPr>
      </p:sp>
      <p:sp>
        <p:nvSpPr>
          <p:cNvPr id="38" name="Shape 36"/>
          <p:cNvSpPr/>
          <p:nvPr/>
        </p:nvSpPr>
        <p:spPr>
          <a:xfrm>
            <a:off x="228600" y="3474720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35112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Хоргос — Восточные Ворота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373075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2036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200400" y="35295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Логистика, торговля, производство, ветроэнергетика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63640" y="35295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0% таможня, склады СТЗ, коридор в Китай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" y="3950208"/>
            <a:ext cx="8686800" cy="457200"/>
          </a:xfrm>
          <a:prstGeom prst="rect">
            <a:avLst/>
          </a:prstGeom>
          <a:solidFill>
            <a:srgbClr val="162D55"/>
          </a:solidFill>
          <a:ln/>
        </p:spPr>
      </p:sp>
      <p:sp>
        <p:nvSpPr>
          <p:cNvPr id="44" name="Shape 42"/>
          <p:cNvSpPr/>
          <p:nvPr/>
        </p:nvSpPr>
        <p:spPr>
          <a:xfrm>
            <a:off x="228600" y="3950208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39867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МЦПС «Хоргос»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" y="42062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2041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200400" y="40050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Приграничная торговля, склады, сервисные услуги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63640" y="40050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Беспошлинная торговля, упрощённый пропускной режим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8600" y="4480560"/>
            <a:ext cx="8686800" cy="27432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228600" y="4480560"/>
            <a:ext cx="54864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1" name="Text 49"/>
          <p:cNvSpPr/>
          <p:nvPr/>
        </p:nvSpPr>
        <p:spPr>
          <a:xfrm>
            <a:off x="36576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ЗАПАД КАЗАХСТАНА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28600" y="4773168"/>
            <a:ext cx="8686800" cy="457200"/>
          </a:xfrm>
          <a:prstGeom prst="rect">
            <a:avLst/>
          </a:prstGeom>
          <a:solidFill>
            <a:srgbClr val="162D55"/>
          </a:solidFill>
          <a:ln/>
        </p:spPr>
      </p:sp>
      <p:sp>
        <p:nvSpPr>
          <p:cNvPr id="53" name="Shape 51"/>
          <p:cNvSpPr/>
          <p:nvPr/>
        </p:nvSpPr>
        <p:spPr>
          <a:xfrm>
            <a:off x="228600" y="4773168"/>
            <a:ext cx="54864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48097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Морпорт Актау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65760" y="5029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2052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200400" y="48280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Логистика, нефтехимия, Каспийский хаб, контейнерный терминал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263640" y="48280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0% таможня, СТЗ, 240 000 TEU мощность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28600" y="5248656"/>
            <a:ext cx="8686800" cy="457200"/>
          </a:xfrm>
          <a:prstGeom prst="rect">
            <a:avLst/>
          </a:prstGeom>
          <a:solidFill>
            <a:srgbClr val="162D55"/>
          </a:solidFill>
          <a:ln/>
        </p:spPr>
      </p:sp>
      <p:sp>
        <p:nvSpPr>
          <p:cNvPr id="59" name="Shape 57"/>
          <p:cNvSpPr/>
          <p:nvPr/>
        </p:nvSpPr>
        <p:spPr>
          <a:xfrm>
            <a:off x="228600" y="5248656"/>
            <a:ext cx="54864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0" name="Text 58"/>
          <p:cNvSpPr/>
          <p:nvPr/>
        </p:nvSpPr>
        <p:spPr>
          <a:xfrm>
            <a:off x="365760" y="52852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НИНТ (Атырау)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65760" y="55046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2049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200400" y="53035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Нефтехимия высоких переделов, переработка углеводородов, R&amp;D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263640" y="5303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0% КПН/НДС, упрощённый найм, до 25 лет льгот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КАЗАХСТАН — СЭЗ / Часть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Центр, Север, Юг + 3 новые зоны 2025 года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0" y="109728"/>
            <a:ext cx="1645920" cy="347472"/>
          </a:xfrm>
          <a:prstGeom prst="roundRect">
            <a:avLst>
              <a:gd name="adj" fmla="val 18421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1097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2025 ▶ 3 зоны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932688"/>
            <a:ext cx="8686800" cy="274320"/>
          </a:xfrm>
          <a:prstGeom prst="rect">
            <a:avLst/>
          </a:prstGeom>
          <a:solidFill>
            <a:srgbClr val="C9A84C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932688"/>
            <a:ext cx="54864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ЦЕНТР И СЕВЕР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225296"/>
            <a:ext cx="8686800" cy="457200"/>
          </a:xfrm>
          <a:prstGeom prst="rect">
            <a:avLst/>
          </a:prstGeom>
          <a:solidFill>
            <a:srgbClr val="162D55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" y="1225296"/>
            <a:ext cx="54864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2618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Сарыарка (Карагандá)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14813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2036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0" y="12801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Металлургия, тяжёлое машиностроение, электроника, стройматериалы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63640" y="1280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0% КПН/НДС, земля бесплатно, готовая инфраструктура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700784"/>
            <a:ext cx="8686800" cy="457200"/>
          </a:xfrm>
          <a:prstGeom prst="rect">
            <a:avLst/>
          </a:prstGeom>
          <a:solidFill>
            <a:srgbClr val="162D55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600" y="1700784"/>
            <a:ext cx="54864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737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Павлодар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195681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2036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0" y="17556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Химия и нефтехимия, металлургия, сопутствующие производства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63640" y="17556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0% КПН/НДС, льготы до 25 лет при крупных инвестициях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2176272"/>
            <a:ext cx="8686800" cy="457200"/>
          </a:xfrm>
          <a:prstGeom prst="rect">
            <a:avLst/>
          </a:prstGeom>
          <a:solidFill>
            <a:srgbClr val="162D55"/>
          </a:solidFill>
          <a:ln/>
        </p:spPr>
      </p:sp>
      <p:sp>
        <p:nvSpPr>
          <p:cNvPr id="23" name="Shape 21"/>
          <p:cNvSpPr/>
          <p:nvPr/>
        </p:nvSpPr>
        <p:spPr>
          <a:xfrm>
            <a:off x="228600" y="2176272"/>
            <a:ext cx="54864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2128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Qyzyljar (Петропавловск)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24323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2044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0" y="22311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Пищепром, машиностроение, АПК, сборка сельхозтехники CLAAS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63640" y="223113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0% КПН/НДС; $614 млн задекларированных инвестиций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2706624"/>
            <a:ext cx="8686800" cy="27432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28600" y="2706624"/>
            <a:ext cx="54864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2706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ЮГ КАЗАХСТАНА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2999232"/>
            <a:ext cx="8686800" cy="457200"/>
          </a:xfrm>
          <a:prstGeom prst="rect">
            <a:avLst/>
          </a:prstGeom>
          <a:solidFill>
            <a:srgbClr val="162D55"/>
          </a:solidFill>
          <a:ln/>
        </p:spPr>
      </p:sp>
      <p:sp>
        <p:nvSpPr>
          <p:cNvPr id="32" name="Shape 30"/>
          <p:cNvSpPr/>
          <p:nvPr/>
        </p:nvSpPr>
        <p:spPr>
          <a:xfrm>
            <a:off x="228600" y="2999232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0358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Оңтүстік (Шымкент)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32552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2030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00400" y="305409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Хлопок, текстиль, химия, высокотехнологичные производства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63640" y="30540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0% таможня, бесплатные участки, субсидии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3474720"/>
            <a:ext cx="8686800" cy="457200"/>
          </a:xfrm>
          <a:prstGeom prst="rect">
            <a:avLst/>
          </a:prstGeom>
          <a:solidFill>
            <a:srgbClr val="162D55"/>
          </a:solidFill>
          <a:ln/>
        </p:spPr>
      </p:sp>
      <p:sp>
        <p:nvSpPr>
          <p:cNvPr id="38" name="Shape 36"/>
          <p:cNvSpPr/>
          <p:nvPr/>
        </p:nvSpPr>
        <p:spPr>
          <a:xfrm>
            <a:off x="228600" y="3474720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35112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Химический парк Тараз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373075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2037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200400" y="35295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Хим- и нефтехимическое производство, пластмассы, текстиль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63640" y="35295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0% КПН/НДС, упрощённый найм иностранных специалистов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" y="3950208"/>
            <a:ext cx="8686800" cy="457200"/>
          </a:xfrm>
          <a:prstGeom prst="rect">
            <a:avLst/>
          </a:prstGeom>
          <a:solidFill>
            <a:srgbClr val="162D55"/>
          </a:solidFill>
          <a:ln/>
        </p:spPr>
      </p:sp>
      <p:sp>
        <p:nvSpPr>
          <p:cNvPr id="44" name="Shape 42"/>
          <p:cNvSpPr/>
          <p:nvPr/>
        </p:nvSpPr>
        <p:spPr>
          <a:xfrm>
            <a:off x="228600" y="3950208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39867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Жібек Жолы (Жамбыл обл.)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" y="42062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2037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200400" y="40050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Хим. производство, промышленная диверсификация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63640" y="40050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0% КПН/НДС, таможенная процедура СТЗ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8600" y="4425696"/>
            <a:ext cx="8686800" cy="457200"/>
          </a:xfrm>
          <a:prstGeom prst="rect">
            <a:avLst/>
          </a:prstGeom>
          <a:solidFill>
            <a:srgbClr val="162D55"/>
          </a:solidFill>
          <a:ln/>
        </p:spPr>
      </p:sp>
      <p:sp>
        <p:nvSpPr>
          <p:cNvPr id="50" name="Shape 48"/>
          <p:cNvSpPr/>
          <p:nvPr/>
        </p:nvSpPr>
        <p:spPr>
          <a:xfrm>
            <a:off x="228600" y="4425696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1" name="Text 49"/>
          <p:cNvSpPr/>
          <p:nvPr/>
        </p:nvSpPr>
        <p:spPr>
          <a:xfrm>
            <a:off x="365760" y="44622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Туран (Туркестан)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65760" y="46817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2043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200400" y="44805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Промышленность, АПК, нефтехимия; субзона с Узбекистаном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263640" y="4480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129 проектов; торговля с УЗ до $10 млрд/5 лет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8600" y="4956048"/>
            <a:ext cx="8686800" cy="27432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228600" y="4956048"/>
            <a:ext cx="54864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7" name="Text 55"/>
          <p:cNvSpPr/>
          <p:nvPr/>
        </p:nvSpPr>
        <p:spPr>
          <a:xfrm>
            <a:off x="365760" y="4956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НОВЫЕ СЭЗ 2025 ГОДА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28600" y="5248656"/>
            <a:ext cx="8686800" cy="457200"/>
          </a:xfrm>
          <a:prstGeom prst="rect">
            <a:avLst/>
          </a:prstGeom>
          <a:solidFill>
            <a:srgbClr val="162D55"/>
          </a:solidFill>
          <a:ln/>
        </p:spPr>
      </p:sp>
      <p:sp>
        <p:nvSpPr>
          <p:cNvPr id="59" name="Shape 57"/>
          <p:cNvSpPr/>
          <p:nvPr/>
        </p:nvSpPr>
        <p:spPr>
          <a:xfrm>
            <a:off x="228600" y="5248656"/>
            <a:ext cx="54864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0" name="Text 58"/>
          <p:cNvSpPr/>
          <p:nvPr/>
        </p:nvSpPr>
        <p:spPr>
          <a:xfrm>
            <a:off x="365760" y="52852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Коркыт Ата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65760" y="55046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н/д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200400" y="53035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Приоритетные виды деятельности утверждаются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263640" y="5303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Инфраструктура и налоговые льготы по новой модели 2024+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28600" y="5724144"/>
            <a:ext cx="8686800" cy="457200"/>
          </a:xfrm>
          <a:prstGeom prst="rect">
            <a:avLst/>
          </a:prstGeom>
          <a:solidFill>
            <a:srgbClr val="162D55"/>
          </a:solidFill>
          <a:ln/>
        </p:spPr>
      </p:sp>
      <p:sp>
        <p:nvSpPr>
          <p:cNvPr id="65" name="Shape 63"/>
          <p:cNvSpPr/>
          <p:nvPr/>
        </p:nvSpPr>
        <p:spPr>
          <a:xfrm>
            <a:off x="228600" y="5724144"/>
            <a:ext cx="54864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6" name="Text 64"/>
          <p:cNvSpPr/>
          <p:nvPr/>
        </p:nvSpPr>
        <p:spPr>
          <a:xfrm>
            <a:off x="365760" y="5760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Актобе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65760" y="598017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н/д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200400" y="57790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Переработка, машиностроение, химия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263640" y="57790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Дифференцированные льготы: 7 / 15 / 25 лет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28600" y="6199632"/>
            <a:ext cx="8686800" cy="457200"/>
          </a:xfrm>
          <a:prstGeom prst="rect">
            <a:avLst/>
          </a:prstGeom>
          <a:solidFill>
            <a:srgbClr val="162D55"/>
          </a:solidFill>
          <a:ln/>
        </p:spPr>
      </p:sp>
      <p:sp>
        <p:nvSpPr>
          <p:cNvPr id="71" name="Shape 69"/>
          <p:cNvSpPr/>
          <p:nvPr/>
        </p:nvSpPr>
        <p:spPr>
          <a:xfrm>
            <a:off x="228600" y="6199632"/>
            <a:ext cx="54864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2" name="Text 70"/>
          <p:cNvSpPr/>
          <p:nvPr/>
        </p:nvSpPr>
        <p:spPr>
          <a:xfrm>
            <a:off x="365760" y="62362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Атырау (СЭЗ)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365760" y="64556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н/д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200400" y="625449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Нефтегазовый сервис, нефтехимия, высокие переделы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6263640" y="62544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Рядом с НИНТ; потенциал нефтехим. кластера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ГРУЗИЯ — СИЗ И СПЕЦИАЛЬНЫЕ НАЛОГОВЫЕ СТАТУСЫ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60120" y="5669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активные СИЗ + Virtual Zone + International Company · регистрация за 1–2 дня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28600" y="987552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987552"/>
            <a:ext cx="420624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5"/>
          <p:cNvSpPr/>
          <p:nvPr/>
        </p:nvSpPr>
        <p:spPr>
          <a:xfrm>
            <a:off x="3429000" y="1078992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C9A84C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429000" y="107899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га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" y="1078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Поти СИЗ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6616" y="13533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г. Поти, Черноморское побережье  ·  CEFC (75%), RAKIA, МЭ Грузии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56616" y="15636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Производство (лёгкое и тяжёлое), логистика, торговля, нефтехимия, сталь, переработка сырья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56616" y="187452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0% корп. налог, НДС, таможня; ж/д станция в зоне; 100+ компаний; доступ к портам Поти и Батуми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90872" y="987552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90872" y="987552"/>
            <a:ext cx="420624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Shape 13"/>
          <p:cNvSpPr/>
          <p:nvPr/>
        </p:nvSpPr>
        <p:spPr>
          <a:xfrm>
            <a:off x="7891272" y="1078992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C9A84C">
              <a:alpha val="2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7891272" y="107899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н/д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818888" y="1078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Кутаиси СИЗ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18888" y="13533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г. Кутаиси, рядом с аэропортом  ·  Georgian International Holding (Fresh Electric)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818888" y="15636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Производство, логистика, технологии; любые виды деятельности без ограничений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818888" y="187452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0% налоги, нет минимального капитала, доступ к Black Sea через Поти и Батуми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28600" y="2468880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28600" y="2468880"/>
            <a:ext cx="4206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21"/>
          <p:cNvSpPr/>
          <p:nvPr/>
        </p:nvSpPr>
        <p:spPr>
          <a:xfrm>
            <a:off x="3429000" y="256032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D9488">
              <a:alpha val="2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3429000" y="25603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га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56616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Хуалинг Кутаиси СИЗ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56616" y="28346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г. Кутаиси, узел Тбилиси – Поти  ·  Hualing Group (Китай)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56616" y="30449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Деревообработка, мебель, обработка камня, металлоконструкции, матрасы, лёгкая промышленность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356616" y="335584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100% tax-free, ФТА с ЕС / СНГ / Турцией; нет мин. инвестиций и требования к найму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690872" y="2468880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690872" y="2468880"/>
            <a:ext cx="4206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Shape 29"/>
          <p:cNvSpPr/>
          <p:nvPr/>
        </p:nvSpPr>
        <p:spPr>
          <a:xfrm>
            <a:off x="7891272" y="256032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7891272" y="25603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га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18888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Тбилиси СИЗ (TFZ)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818888" y="28346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г. Тбилиси, 30 км от аэропорта  ·  BitFury Group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4818888" y="30449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IT, блокчейн, фармацевтика, торговля, услуги, лёгкое производство, логистика и склады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818888" y="335584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0% налоги на экспорт; 4% на продажи внутри ГЕ; 80% квалиф. рабочей силы страны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0" y="3977640"/>
            <a:ext cx="9144000" cy="201168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9" name="Text 36"/>
          <p:cNvSpPr/>
          <p:nvPr/>
        </p:nvSpPr>
        <p:spPr>
          <a:xfrm>
            <a:off x="274320" y="39776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СПЕЦИАЛЬНЫЕ НАЛОГОВЫЕ СТАТУСЫ — НЕ СИЗ, НО МОЩНЫЕ ИНСТРУМЕНТЫ: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28600" y="4187952"/>
            <a:ext cx="2057400" cy="877824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228600" y="4187952"/>
            <a:ext cx="20574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2" name="Text 39"/>
          <p:cNvSpPr/>
          <p:nvPr/>
        </p:nvSpPr>
        <p:spPr>
          <a:xfrm>
            <a:off x="320040" y="42336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Zone Person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320040" y="44988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корп. налог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320040" y="46817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доход от IT-услуг, оказанных нерезидентам Грузии. Оформляется в налоговой онлайн. Идеально для разработчиков, SaaS, дизайнеров.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2404872" y="4187952"/>
            <a:ext cx="2057400" cy="877824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2404872" y="4187952"/>
            <a:ext cx="20574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7" name="Text 44"/>
          <p:cNvSpPr/>
          <p:nvPr/>
        </p:nvSpPr>
        <p:spPr>
          <a:xfrm>
            <a:off x="2496312" y="42336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Company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2496312" y="44988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дивиденды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2496312" y="46817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холдингов и компаний с международным присутствием. ИПН сотрудников 5%, упрощённая структура.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581144" y="4187952"/>
            <a:ext cx="2057400" cy="877824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4581144" y="4187952"/>
            <a:ext cx="20574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2" name="Text 49"/>
          <p:cNvSpPr/>
          <p:nvPr/>
        </p:nvSpPr>
        <p:spPr>
          <a:xfrm>
            <a:off x="4672584" y="42336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Kulevi СИЗ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4672584" y="44988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открывается 2025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4672584" y="46817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Нефтепереработка, газовые резервуары, энергетика. Управляет Black Sea Petroleum. Старейший проект Грузии.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6757416" y="4187952"/>
            <a:ext cx="2057400" cy="877824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6757416" y="4187952"/>
            <a:ext cx="20574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7" name="Text 54"/>
          <p:cNvSpPr/>
          <p:nvPr/>
        </p:nvSpPr>
        <p:spPr>
          <a:xfrm>
            <a:off x="6848856" y="42336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Сагареджо СИЗ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6848856" y="44988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ожидается 2026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6848856" y="46817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км от Тбилиси. Оператор — ACE Group. Производство, логистика. Третья зона в стране по площади.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БУХГАЛТЕРСКОЕ И ЮРИДИЧЕСКОЕ СОПРОВОЖДЕНИЕ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858000" y="1078992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C9A84C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0" y="1078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Ежемесячный retainer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4320" y="10515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051560"/>
            <a:ext cx="4114800" cy="64008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188720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9264" y="11887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Бухгалтерское сопровождение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38912" y="1737360"/>
            <a:ext cx="37947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бухгалтерии на аутсорсе (КЗ / ГЕ)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и сдача налоговой отчётности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НДС-декларации, КПН, ИПН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зарплаты, ОСМС и СО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1С / облачными системами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Сверки с налоговыми органами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663440" y="1051560"/>
            <a:ext cx="42062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63440" y="1051560"/>
            <a:ext cx="4206240" cy="64008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188720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58384" y="11887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Юридическое сопровождение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828032" y="1737360"/>
            <a:ext cx="38862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договоров (поставка, услуги, NDA)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Юридический адрес + приём корреспонденции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Представление интересов в госорганах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Абонентское обслуживание (X часов/месяц)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Корпоративные изменения: директор, состав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Реорганизация, ликвидация компании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ДОПОЛНИТЕЛЬНЫЕ УСЛУГИ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816352" cy="1691640"/>
          </a:xfrm>
          <a:prstGeom prst="rect">
            <a:avLst/>
          </a:prstGeom>
          <a:solidFill>
            <a:srgbClr val="162D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64008" cy="169164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20700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Банковское сопровождение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810512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KYC/AML, мультивалютные счета, банки ОАЭ / Турции / Европы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27832" y="1097280"/>
            <a:ext cx="2816352" cy="1691640"/>
          </a:xfrm>
          <a:prstGeom prst="rect">
            <a:avLst/>
          </a:prstGeom>
          <a:solidFill>
            <a:srgbClr val="162D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27832" y="1097280"/>
            <a:ext cx="64008" cy="169164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28016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120700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Миграция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10712" y="1810512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Трудовые договоры, кадровый учёт, ИРП, квоты для иностранцев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81344" y="1097280"/>
            <a:ext cx="2816352" cy="1691640"/>
          </a:xfrm>
          <a:prstGeom prst="rect">
            <a:avLst/>
          </a:prstGeom>
          <a:solidFill>
            <a:srgbClr val="162D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81344" y="1097280"/>
            <a:ext cx="64008" cy="169164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28016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39712" y="120700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Интеллектуальная собственность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64224" y="1810512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торговых марок в КЗ, ГЕ, ВОИС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74320" y="2971800"/>
            <a:ext cx="2816352" cy="1691640"/>
          </a:xfrm>
          <a:prstGeom prst="rect">
            <a:avLst/>
          </a:prstGeom>
          <a:solidFill>
            <a:srgbClr val="162D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4320" y="2971800"/>
            <a:ext cx="64008" cy="169164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5468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" y="308152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Налоговый консалтинг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3685032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Структурирование сделок, transfer pricing, рулинги КГД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27832" y="2971800"/>
            <a:ext cx="2816352" cy="1691640"/>
          </a:xfrm>
          <a:prstGeom prst="rect">
            <a:avLst/>
          </a:prstGeom>
          <a:solidFill>
            <a:srgbClr val="162D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27832" y="2971800"/>
            <a:ext cx="64008" cy="169164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3154680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86200" y="308152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Лицензирование &amp; Сертификация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10712" y="3685032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 ТС, ГОСТ, инвестдекларации СЭЗ, разрешения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81344" y="2971800"/>
            <a:ext cx="2816352" cy="1691640"/>
          </a:xfrm>
          <a:prstGeom prst="rect">
            <a:avLst/>
          </a:prstGeom>
          <a:solidFill>
            <a:srgbClr val="162D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81344" y="2971800"/>
            <a:ext cx="64008" cy="169164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3154680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39712" y="308152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/ Premium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364224" y="3685032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компании, номинальный директор, конфиденциальное владение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КОРПОРАТИВНЫЙ МЕНЕДЖМЕНТ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274320" y="10789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Представительство, управление и конфиденциальность вашего бизнеса — под ключ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28600" y="1508760"/>
            <a:ext cx="2029968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1508760"/>
            <a:ext cx="2029968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338328" y="1618488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Номинальный директор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8328" y="207568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Nominee Director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38328" y="2313432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Формальный директор в реестре. Реальное управление — у владельца через доверенность.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04872" y="1508760"/>
            <a:ext cx="2029968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04872" y="1508760"/>
            <a:ext cx="2029968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0"/>
          <p:cNvSpPr/>
          <p:nvPr/>
        </p:nvSpPr>
        <p:spPr>
          <a:xfrm>
            <a:off x="2514600" y="1618488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Доверенный директор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514600" y="207568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Director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514600" y="2313432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Наёмный профессиональный директор, действует строго в рамках вашего мандата.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81144" y="1508760"/>
            <a:ext cx="2029968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81144" y="1508760"/>
            <a:ext cx="2029968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5"/>
          <p:cNvSpPr/>
          <p:nvPr/>
        </p:nvSpPr>
        <p:spPr>
          <a:xfrm>
            <a:off x="4690872" y="1618488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Управляющая компания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690872" y="207568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Company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690872" y="2313432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менеджмент вашей структуры: операционное руководство и отчётность.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757416" y="1508760"/>
            <a:ext cx="2029968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757416" y="1508760"/>
            <a:ext cx="2029968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0"/>
          <p:cNvSpPr/>
          <p:nvPr/>
        </p:nvSpPr>
        <p:spPr>
          <a:xfrm>
            <a:off x="6867144" y="1618488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Номинальный акционер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867144" y="207568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Nominee Shareholder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67144" y="2313432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Скрытие реального бенефициара. Трастовая декларация защищает ваши права.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28600" y="3264408"/>
            <a:ext cx="2029968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28600" y="3264408"/>
            <a:ext cx="2029968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5"/>
          <p:cNvSpPr/>
          <p:nvPr/>
        </p:nvSpPr>
        <p:spPr>
          <a:xfrm>
            <a:off x="338328" y="3374136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Аутсорс отдела продаж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38328" y="383133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Department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38328" y="4069080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B2B отдел продаж под вашим брендом в Казахстане или Грузии.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404872" y="3264408"/>
            <a:ext cx="2029968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404872" y="3264408"/>
            <a:ext cx="2029968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0"/>
          <p:cNvSpPr/>
          <p:nvPr/>
        </p:nvSpPr>
        <p:spPr>
          <a:xfrm>
            <a:off x="2514600" y="3374136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Корпоративный секретарь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514600" y="383133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Secretary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2514600" y="4069080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протоколов, соблюдение compliance, взаимодействие с регуляторами.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581144" y="3264408"/>
            <a:ext cx="2029968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581144" y="3264408"/>
            <a:ext cx="2029968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5"/>
          <p:cNvSpPr/>
          <p:nvPr/>
        </p:nvSpPr>
        <p:spPr>
          <a:xfrm>
            <a:off x="4690872" y="3374136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Agent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690872" y="383133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Офиц. агент в СЭЗ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690872" y="4069080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Обязательный агент для ряда структур в МФЦА, Астана Хаб и СЭЗ Поти.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757416" y="3264408"/>
            <a:ext cx="2029968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757416" y="3264408"/>
            <a:ext cx="2029968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Text 40"/>
          <p:cNvSpPr/>
          <p:nvPr/>
        </p:nvSpPr>
        <p:spPr>
          <a:xfrm>
            <a:off x="6867144" y="3374136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/ AML офицер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6867144" y="383133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аутсорсе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867144" y="4069080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финтех, крипто и финансовых структур. Отчётность в регулятор.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КОМПАНИЯ ПОД КЛЮЧ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операционный функционал — с первого дня работы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37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Turnkey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143000"/>
            <a:ext cx="2816352" cy="1737360"/>
          </a:xfrm>
          <a:prstGeom prst="rect">
            <a:avLst/>
          </a:prstGeom>
          <a:solidFill>
            <a:srgbClr val="162D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143000"/>
            <a:ext cx="457200" cy="17373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216152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Логистика &amp; ВЭД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673352"/>
            <a:ext cx="2176272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Организация международных перевозок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Таможенное оформление грузов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Складское хранение и фулфилмент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Сертификация и разрешения на ввоз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82112" y="1143000"/>
            <a:ext cx="2816352" cy="1737360"/>
          </a:xfrm>
          <a:prstGeom prst="rect">
            <a:avLst/>
          </a:prstGeom>
          <a:solidFill>
            <a:srgbClr val="162D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1143000"/>
            <a:ext cx="457200" cy="17373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318211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30752" y="1216152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Кадры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30752" y="1673352"/>
            <a:ext cx="2176272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и найм персонала (КЗ/ГЕ)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Кадровое делопроизводство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и онбординг сотрудников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зарплат, ОСМС, пенсионные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35624" y="1143000"/>
            <a:ext cx="2816352" cy="1737360"/>
          </a:xfrm>
          <a:prstGeom prst="rect">
            <a:avLst/>
          </a:prstGeom>
          <a:solidFill>
            <a:srgbClr val="162D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35624" y="1143000"/>
            <a:ext cx="457200" cy="1737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13562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84264" y="1216152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IT-инфраструктура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84264" y="1673352"/>
            <a:ext cx="2176272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почта и домен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CRM-система под ключ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1С / ERP настройка и поддержка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Кибербезопасность и бэкапы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3044952"/>
            <a:ext cx="2816352" cy="1737360"/>
          </a:xfrm>
          <a:prstGeom prst="rect">
            <a:avLst/>
          </a:prstGeom>
          <a:solidFill>
            <a:srgbClr val="162D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044952"/>
            <a:ext cx="457200" cy="1737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22860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3118104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 &amp; PR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3575304"/>
            <a:ext cx="2176272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сайта и лендингов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соцсетей и контент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SEO, Google Ads, Яндекс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и медиаприсутствие в КЗ/ГЕ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82112" y="3044952"/>
            <a:ext cx="2816352" cy="1737360"/>
          </a:xfrm>
          <a:prstGeom prst="rect">
            <a:avLst/>
          </a:prstGeom>
          <a:solidFill>
            <a:srgbClr val="162D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82112" y="3044952"/>
            <a:ext cx="457200" cy="1737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3182112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730752" y="3118104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Колл-центр &amp; Сервис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730752" y="3575304"/>
            <a:ext cx="2176272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Виртуальный офис + телефонный секретарь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входящих обращений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клиентов на 3 языках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и аналитика звонков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35624" y="3044952"/>
            <a:ext cx="2816352" cy="1737360"/>
          </a:xfrm>
          <a:prstGeom prst="rect">
            <a:avLst/>
          </a:prstGeom>
          <a:solidFill>
            <a:srgbClr val="162D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35624" y="3044952"/>
            <a:ext cx="457200" cy="1737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613562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84264" y="3118104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Закупки &amp; Снабжение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84264" y="3575304"/>
            <a:ext cx="2176272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 проверка поставщиков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Переговоры и заключение договоров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качества и инспекция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Организация тендеров и тендерная документация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ИНВЕСТИЦИОННЫЕ ПРОГРАММЫ &amp; GR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28600" y="1097280"/>
            <a:ext cx="4160520" cy="374904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1097280"/>
            <a:ext cx="416052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12344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🤝 Government Relations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1480" y="16916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Переговоры на высшем уровне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2084832"/>
            <a:ext cx="38404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Организация встреч с представителями Правительства РК и Грузии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Получение инвестиционных преференций и налоговых льгот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Лоббирование интересов клиента в госструктурах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инвест. форумах (Astana Finance Days, Silk Road Forum)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Сопровождение на переговорах с акиматами и министерствами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Протокольная поддержка и организация деловых визитов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251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097280"/>
            <a:ext cx="64008" cy="8229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9"/>
          <p:cNvSpPr/>
          <p:nvPr/>
        </p:nvSpPr>
        <p:spPr>
          <a:xfrm>
            <a:off x="4828032" y="11521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Инвест. преференции КЗ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28032" y="144475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Налоговые льготы, таможенные освобождения и натурные гранты от государства для инвесторов от $2 млн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2029968"/>
            <a:ext cx="4251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2029968"/>
            <a:ext cx="64008" cy="8229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3"/>
          <p:cNvSpPr/>
          <p:nvPr/>
        </p:nvSpPr>
        <p:spPr>
          <a:xfrm>
            <a:off x="4828032" y="2084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Резидентство для инвесторов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28032" y="237744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ВНЖ и резидентство в КЗ / ГЕ через инвестиции. Быстрый трек для владельцев бизнеса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63440" y="2962656"/>
            <a:ext cx="4251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2962656"/>
            <a:ext cx="64008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4828032" y="3017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Гранты &amp; Субсидии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28032" y="331012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Государственные гранты от Kazakh Invest, Грузинский NAIP, субсидирование %% по кредитам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63440" y="3895344"/>
            <a:ext cx="4251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63440" y="3895344"/>
            <a:ext cx="64008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1"/>
          <p:cNvSpPr/>
          <p:nvPr/>
        </p:nvSpPr>
        <p:spPr>
          <a:xfrm>
            <a:off x="4828032" y="3950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Тендеры &amp; Госзаказ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28032" y="424281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государственных закупках РК и ГЕ. Подготовка тендерной документации под ключ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47548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VIP-консультация по инвестиционным программам — бесплатно для квалифицированных инвесторов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200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M&amp;A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20040" y="137160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Покупка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готового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бизнеса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 активов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3291840"/>
            <a:ext cx="27432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3429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Казахстан · Грузия · СНГ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3931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Full-cycle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7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03320" y="109728"/>
            <a:ext cx="1691640" cy="2286000"/>
          </a:xfrm>
          <a:prstGeom prst="rect">
            <a:avLst/>
          </a:prstGeom>
          <a:solidFill>
            <a:srgbClr val="162D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3320" y="109728"/>
            <a:ext cx="169164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3794760" y="201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13048" y="70408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Месторождения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13048" y="1207008"/>
            <a:ext cx="14813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Уголь, нефть и газ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Металлы и редкоземельные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Уран, хром, медь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95544" y="109728"/>
            <a:ext cx="1691640" cy="2286000"/>
          </a:xfrm>
          <a:prstGeom prst="rect">
            <a:avLst/>
          </a:prstGeom>
          <a:solidFill>
            <a:srgbClr val="162D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95544" y="109728"/>
            <a:ext cx="169164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5586984" y="201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05272" y="70408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Заводы &amp; Производство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05272" y="1207008"/>
            <a:ext cx="14813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Металлургия и химпром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Пищевые и агропредприятия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Строительные и стройматериалы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87768" y="109728"/>
            <a:ext cx="1691640" cy="2286000"/>
          </a:xfrm>
          <a:prstGeom prst="rect">
            <a:avLst/>
          </a:prstGeom>
          <a:solidFill>
            <a:srgbClr val="162D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87768" y="109728"/>
            <a:ext cx="169164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7379208" y="201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97496" y="70408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Государственные активы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97496" y="1207008"/>
            <a:ext cx="14813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Приватизация госпредприятий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Квазигосударственные активы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аукционах КРОМ, МФЦА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03320" y="2532888"/>
            <a:ext cx="1691640" cy="2286000"/>
          </a:xfrm>
          <a:prstGeom prst="rect">
            <a:avLst/>
          </a:prstGeom>
          <a:solidFill>
            <a:srgbClr val="162D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03320" y="2532888"/>
            <a:ext cx="16916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379476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🚢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813048" y="312724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 &amp; Инфраструктура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13048" y="3630168"/>
            <a:ext cx="14813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Суда, авиация, ж/д парк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Порты, склады, терминалы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Логистические хабы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95544" y="2532888"/>
            <a:ext cx="1691640" cy="2286000"/>
          </a:xfrm>
          <a:prstGeom prst="rect">
            <a:avLst/>
          </a:prstGeom>
          <a:solidFill>
            <a:srgbClr val="162D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95544" y="2532888"/>
            <a:ext cx="16916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5586984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🌾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605272" y="312724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Агропромышленные активы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05272" y="3630168"/>
            <a:ext cx="14813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Фермерские хозяйства и АПК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Элеваторы, зернохранилища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Земельные угодья и ирригация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287768" y="2532888"/>
            <a:ext cx="1691640" cy="2286000"/>
          </a:xfrm>
          <a:prstGeom prst="rect">
            <a:avLst/>
          </a:prstGeom>
          <a:solidFill>
            <a:srgbClr val="162D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87768" y="2532888"/>
            <a:ext cx="16916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7379208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397496" y="312724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Коммерческая недвижимость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97496" y="3630168"/>
            <a:ext cx="14813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Офисы, ТРЦ, гостиницы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Промышленные парки и ОЭЗ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Земельные участки под девелопмент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8006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Due Diligence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901952" y="4828032"/>
            <a:ext cx="27432" cy="256032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42" name="Text 40"/>
          <p:cNvSpPr/>
          <p:nvPr/>
        </p:nvSpPr>
        <p:spPr>
          <a:xfrm>
            <a:off x="2011680" y="48006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Оценка актива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39312" y="4828032"/>
            <a:ext cx="27432" cy="256032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44" name="Text 42"/>
          <p:cNvSpPr/>
          <p:nvPr/>
        </p:nvSpPr>
        <p:spPr>
          <a:xfrm>
            <a:off x="3749040" y="48006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Структурирование сделки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376672" y="4828032"/>
            <a:ext cx="27432" cy="256032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0" y="48006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Юр. сопровождение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114032" y="4828032"/>
            <a:ext cx="27432" cy="256032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48" name="Text 46"/>
          <p:cNvSpPr/>
          <p:nvPr/>
        </p:nvSpPr>
        <p:spPr>
          <a:xfrm>
            <a:off x="7223760" y="48006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Постсделочная интеграция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6459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DUE DILIGENCE &amp; КОМПЛЕКСНЫЙ АУДИТ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005840" y="6217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проверка бизнеса перед покупкой — юридика, финансы, налоги, операции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77240" y="1078992"/>
            <a:ext cx="530352" cy="530352"/>
          </a:xfrm>
          <a:prstGeom prst="ellipse">
            <a:avLst/>
          </a:prstGeom>
          <a:solidFill>
            <a:srgbClr val="0F2044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0789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335024" y="1316736"/>
            <a:ext cx="640080" cy="36576"/>
          </a:xfrm>
          <a:prstGeom prst="rect">
            <a:avLst/>
          </a:prstGeom>
          <a:solidFill>
            <a:srgbClr val="C9A84C">
              <a:alpha val="6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66420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документов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96312" y="1078992"/>
            <a:ext cx="530352" cy="530352"/>
          </a:xfrm>
          <a:prstGeom prst="ellipse">
            <a:avLst/>
          </a:prstGeom>
          <a:solidFill>
            <a:srgbClr val="0F2044"/>
          </a:solidFill>
          <a:ln/>
        </p:spPr>
      </p:sp>
      <p:sp>
        <p:nvSpPr>
          <p:cNvPr id="11" name="Text 8"/>
          <p:cNvSpPr/>
          <p:nvPr/>
        </p:nvSpPr>
        <p:spPr>
          <a:xfrm>
            <a:off x="2496312" y="10789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054096" y="1316736"/>
            <a:ext cx="640080" cy="36576"/>
          </a:xfrm>
          <a:prstGeom prst="rect">
            <a:avLst/>
          </a:prstGeom>
          <a:solidFill>
            <a:srgbClr val="C9A84C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2084832" y="166420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Финансовый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215384" y="1078992"/>
            <a:ext cx="530352" cy="530352"/>
          </a:xfrm>
          <a:prstGeom prst="ellipse">
            <a:avLst/>
          </a:prstGeom>
          <a:solidFill>
            <a:srgbClr val="0F2044"/>
          </a:solidFill>
          <a:ln/>
        </p:spPr>
      </p:sp>
      <p:sp>
        <p:nvSpPr>
          <p:cNvPr id="15" name="Text 12"/>
          <p:cNvSpPr/>
          <p:nvPr/>
        </p:nvSpPr>
        <p:spPr>
          <a:xfrm>
            <a:off x="4215384" y="10789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73168" y="1316736"/>
            <a:ext cx="640080" cy="36576"/>
          </a:xfrm>
          <a:prstGeom prst="rect">
            <a:avLst/>
          </a:prstGeom>
          <a:solidFill>
            <a:srgbClr val="C9A84C">
              <a:alpha val="6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803904" y="166420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Юридическая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34456" y="1078992"/>
            <a:ext cx="530352" cy="530352"/>
          </a:xfrm>
          <a:prstGeom prst="ellipse">
            <a:avLst/>
          </a:prstGeom>
          <a:solidFill>
            <a:srgbClr val="0F2044"/>
          </a:solidFill>
          <a:ln/>
        </p:spPr>
      </p:sp>
      <p:sp>
        <p:nvSpPr>
          <p:cNvPr id="19" name="Text 16"/>
          <p:cNvSpPr/>
          <p:nvPr/>
        </p:nvSpPr>
        <p:spPr>
          <a:xfrm>
            <a:off x="5934456" y="10789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92240" y="1316736"/>
            <a:ext cx="640080" cy="36576"/>
          </a:xfrm>
          <a:prstGeom prst="rect">
            <a:avLst/>
          </a:prstGeom>
          <a:solidFill>
            <a:srgbClr val="C9A84C">
              <a:alpha val="6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522976" y="166420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Налоговый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653528" y="1078992"/>
            <a:ext cx="530352" cy="53035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3" name="Text 20"/>
          <p:cNvSpPr/>
          <p:nvPr/>
        </p:nvSpPr>
        <p:spPr>
          <a:xfrm>
            <a:off x="7653528" y="10789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242048" y="166420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28600" y="2176272"/>
            <a:ext cx="2816352" cy="1353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28600" y="2176272"/>
            <a:ext cx="28163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7" name="Shape 24"/>
          <p:cNvSpPr/>
          <p:nvPr/>
        </p:nvSpPr>
        <p:spPr>
          <a:xfrm>
            <a:off x="338328" y="2267712"/>
            <a:ext cx="347472" cy="347472"/>
          </a:xfrm>
          <a:prstGeom prst="ellipse">
            <a:avLst/>
          </a:prstGeom>
          <a:solidFill>
            <a:srgbClr val="C9A84C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313432"/>
            <a:ext cx="256032" cy="25603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77240" y="22677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Финансовый аудит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356616" y="2651760"/>
            <a:ext cx="2615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P&amp;L, баланс и Cash Flow за 3 года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Дебиторская и кредиторская задолженность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Скрытые обязательства и займы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реальной стоимости активов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и мультипликаторы оценки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3182112" y="2176272"/>
            <a:ext cx="2816352" cy="1353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3182112" y="2176272"/>
            <a:ext cx="28163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3" name="Shape 29"/>
          <p:cNvSpPr/>
          <p:nvPr/>
        </p:nvSpPr>
        <p:spPr>
          <a:xfrm>
            <a:off x="3291840" y="2267712"/>
            <a:ext cx="347472" cy="347472"/>
          </a:xfrm>
          <a:prstGeom prst="ellipse">
            <a:avLst/>
          </a:prstGeom>
          <a:solidFill>
            <a:srgbClr val="C9A84C">
              <a:alpha val="85000"/>
            </a:srgbClr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313432"/>
            <a:ext cx="256032" cy="25603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3730752" y="22677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Юридический аудит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3310128" y="2651760"/>
            <a:ext cx="2615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Учредительные документы и реестр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действующие контракты и договоры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 собственности и обременения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Судебные споры и претензии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Лицензии и разрешения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6135624" y="2176272"/>
            <a:ext cx="2816352" cy="1353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6135624" y="2176272"/>
            <a:ext cx="281635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Shape 34"/>
          <p:cNvSpPr/>
          <p:nvPr/>
        </p:nvSpPr>
        <p:spPr>
          <a:xfrm>
            <a:off x="6245352" y="2267712"/>
            <a:ext cx="347472" cy="347472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2313432"/>
            <a:ext cx="256032" cy="256032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684264" y="22677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Налоговый аудит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6263640" y="2651760"/>
            <a:ext cx="2615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Налоговая отчётность за 3–5 лет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Налоговые риски и недоимки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Трансфертное ценообразование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Расчёты с ОСМС и ЕНПФ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Справки об отсутствии задолженностей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228600" y="3639312"/>
            <a:ext cx="2816352" cy="1353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228600" y="3639312"/>
            <a:ext cx="281635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5" name="Shape 39"/>
          <p:cNvSpPr/>
          <p:nvPr/>
        </p:nvSpPr>
        <p:spPr>
          <a:xfrm>
            <a:off x="338328" y="3730752"/>
            <a:ext cx="347472" cy="347472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776472"/>
            <a:ext cx="256032" cy="256032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777240" y="37307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Операционный аудит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356616" y="4114800"/>
            <a:ext cx="2615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Бизнес-процессы и управление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сотрудники и риски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IT-системы, CRM и ERP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Цепочка поставок и партнёры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Операционные точки уязвимости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3182112" y="3639312"/>
            <a:ext cx="2816352" cy="1353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3182112" y="3639312"/>
            <a:ext cx="28163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1" name="Shape 44"/>
          <p:cNvSpPr/>
          <p:nvPr/>
        </p:nvSpPr>
        <p:spPr>
          <a:xfrm>
            <a:off x="3291840" y="3730752"/>
            <a:ext cx="347472" cy="347472"/>
          </a:xfrm>
          <a:prstGeom prst="ellipse">
            <a:avLst/>
          </a:prstGeom>
          <a:solidFill>
            <a:srgbClr val="7C3AED">
              <a:alpha val="85000"/>
            </a:srgbClr>
          </a:solidFill>
          <a:ln/>
        </p:spPr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3776472"/>
            <a:ext cx="256032" cy="256032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3730752" y="37307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Корпоративный комплаенс</a:t>
            </a:r>
            <a:endParaRPr lang="en-US" sz="1100" dirty="0"/>
          </a:p>
        </p:txBody>
      </p:sp>
      <p:sp>
        <p:nvSpPr>
          <p:cNvPr id="54" name="Text 46"/>
          <p:cNvSpPr/>
          <p:nvPr/>
        </p:nvSpPr>
        <p:spPr>
          <a:xfrm>
            <a:off x="3310128" y="4114800"/>
            <a:ext cx="2615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Бенефициары и UBO-структура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AML/KYC — санкционные списки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требованиям регуляторов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и репутационный аудит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Аффилированные и связанные стороны</a:t>
            </a:r>
            <a:endParaRPr lang="en-US" sz="900" dirty="0"/>
          </a:p>
        </p:txBody>
      </p:sp>
      <p:sp>
        <p:nvSpPr>
          <p:cNvPr id="55" name="Shape 47"/>
          <p:cNvSpPr/>
          <p:nvPr/>
        </p:nvSpPr>
        <p:spPr>
          <a:xfrm>
            <a:off x="6135624" y="3639312"/>
            <a:ext cx="2816352" cy="1353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48"/>
          <p:cNvSpPr/>
          <p:nvPr/>
        </p:nvSpPr>
        <p:spPr>
          <a:xfrm>
            <a:off x="6135624" y="3639312"/>
            <a:ext cx="28163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7" name="Shape 49"/>
          <p:cNvSpPr/>
          <p:nvPr/>
        </p:nvSpPr>
        <p:spPr>
          <a:xfrm>
            <a:off x="6245352" y="3730752"/>
            <a:ext cx="347472" cy="347472"/>
          </a:xfrm>
          <a:prstGeom prst="ellipse">
            <a:avLst/>
          </a:prstGeom>
          <a:solidFill>
            <a:srgbClr val="7C3AED">
              <a:alpha val="85000"/>
            </a:srgbClr>
          </a:solidFill>
          <a:ln/>
        </p:spPr>
      </p:sp>
      <p:pic>
        <p:nvPicPr>
          <p:cNvPr id="5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072" y="3776472"/>
            <a:ext cx="256032" cy="256032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6684264" y="37307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отчёт &amp; Сделка</a:t>
            </a:r>
            <a:endParaRPr lang="en-US" sz="1100" dirty="0"/>
          </a:p>
        </p:txBody>
      </p:sp>
      <p:sp>
        <p:nvSpPr>
          <p:cNvPr id="60" name="Text 51"/>
          <p:cNvSpPr/>
          <p:nvPr/>
        </p:nvSpPr>
        <p:spPr>
          <a:xfrm>
            <a:off x="6263640" y="4114800"/>
            <a:ext cx="2615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рисков Red / Amber / Green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 по цене и условиям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precedent для закрытия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Гарантии продавца (W&amp;I)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Сопровождение переговоров по итогам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ПАКЕТЫ УСЛУГ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Комплексные решения под ключ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56032" y="1371600"/>
            <a:ext cx="1993392" cy="3429000"/>
          </a:xfrm>
          <a:prstGeom prst="rect">
            <a:avLst/>
          </a:prstGeom>
          <a:solidFill>
            <a:srgbClr val="162D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0876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KZ Starter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 $990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0352" y="2542032"/>
            <a:ext cx="1444752" cy="36576"/>
          </a:xfrm>
          <a:prstGeom prst="rect">
            <a:avLst/>
          </a:prstGeom>
          <a:solidFill>
            <a:srgbClr val="C9A84C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651760"/>
            <a:ext cx="177393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ТОО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Получение БИН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ЭЦП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Юр. адрес 3 мес.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32304" y="1371600"/>
            <a:ext cx="1993392" cy="342900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150876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KZ Free Zone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42032" y="20116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 $1,490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06624" y="2542032"/>
            <a:ext cx="1444752" cy="36576"/>
          </a:xfrm>
          <a:prstGeom prst="rect">
            <a:avLst/>
          </a:prstGeom>
          <a:solidFill>
            <a:srgbClr val="0F2044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542032" y="2651760"/>
            <a:ext cx="177393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в СЭЗ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участника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Налоговый консалт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Открытие счёта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08576" y="1371600"/>
            <a:ext cx="1993392" cy="3429000"/>
          </a:xfrm>
          <a:prstGeom prst="rect">
            <a:avLst/>
          </a:prstGeom>
          <a:solidFill>
            <a:srgbClr val="162D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18304" y="150876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Virtual Zone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18304" y="20116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 $790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82896" y="2542032"/>
            <a:ext cx="1444752" cy="36576"/>
          </a:xfrm>
          <a:prstGeom prst="rect">
            <a:avLst/>
          </a:prstGeom>
          <a:solidFill>
            <a:srgbClr val="C9A84C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718304" y="2651760"/>
            <a:ext cx="177393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LLC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Virtual Zone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Банковский счёт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ID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84848" y="1371600"/>
            <a:ext cx="1993392" cy="3429000"/>
          </a:xfrm>
          <a:prstGeom prst="rect">
            <a:avLst/>
          </a:prstGeom>
          <a:solidFill>
            <a:srgbClr val="162D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94576" y="150876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KZ + GE Holding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94576" y="20116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 $2,290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059168" y="2542032"/>
            <a:ext cx="1444752" cy="36576"/>
          </a:xfrm>
          <a:prstGeom prst="rect">
            <a:avLst/>
          </a:prstGeom>
          <a:solidFill>
            <a:srgbClr val="C9A84C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894576" y="2651760"/>
            <a:ext cx="177393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Материнская в Грузии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Операционная в КЗ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Структурирование холдинга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консалт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Цены ориентировочные. Точная стоимость определяется индивидуально.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INTERLEX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64008" cy="1170432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43584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17043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рынка — один партнёр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87552" y="1554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закрываем Казахстан и Грузию в одном контракте. Не нужно искать отдельных консультантов.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420624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64008" cy="1170432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43584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8112" y="117043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легальные схемы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68112" y="1554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Работаем в рамках действующего законодательства. Никаких «серых» схем.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" y="2414016"/>
            <a:ext cx="420624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2414016"/>
            <a:ext cx="64008" cy="1170432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552" y="24871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Чёткие сроки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87552" y="2871216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Фиксируем дедлайны в договоре. Вы знаете, когда получите результат.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414016"/>
            <a:ext cx="420624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414016"/>
            <a:ext cx="64008" cy="1170432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5603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68112" y="24871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Налоговая оптимизация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68112" y="2871216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Помогаем структурировать бизнес с максимальными льготами СЭЗ и минимальной нагрузкой.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274320" y="3730752"/>
            <a:ext cx="420624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74320" y="3730752"/>
            <a:ext cx="64008" cy="1170432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77056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7552" y="380390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Международный опыт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87552" y="418795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Работаем с клиентами из Китая, ОАЭ, Турции, Европы и стран СНГ.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754880" y="3730752"/>
            <a:ext cx="420624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54880" y="3730752"/>
            <a:ext cx="64008" cy="1170432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877056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68112" y="380390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468112" y="418795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→ счёт → лицензия → бухгалтерия → миграция. Без лишних подрядчиков.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INTERLEX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347472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начать?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Оставьте заявку и мы свяжемся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вами в течение 24 часов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8803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Сайт:  interlex.kz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33375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Email:  info@interlex.kz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37947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WhatsApp:  +7 (777) 000-00-00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42519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Офис:  Астана, Казахстан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6858000" y="640080"/>
            <a:ext cx="1828800" cy="1828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92240" y="26517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Kazakhstan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Georgia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492240" y="35661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Interlex – Business Registration Services</dc:title>
  <dc:subject>PptxGenJS Presentation</dc:subject>
  <dc:creator>Interlex</dc:creator>
  <cp:lastModifiedBy>Interlex</cp:lastModifiedBy>
  <cp:revision>1</cp:revision>
  <dcterms:created xsi:type="dcterms:W3CDTF">2026-04-19T06:33:59Z</dcterms:created>
  <dcterms:modified xsi:type="dcterms:W3CDTF">2026-04-19T06:33:59Z</dcterms:modified>
</cp:coreProperties>
</file>